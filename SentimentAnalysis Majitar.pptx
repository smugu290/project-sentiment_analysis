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24" r:id="rId1"/>
  </p:sldMasterIdLst>
  <p:sldIdLst>
    <p:sldId id="256" r:id="rId2"/>
    <p:sldId id="257" r:id="rId3"/>
    <p:sldId id="258" r:id="rId4"/>
    <p:sldId id="259" r:id="rId5"/>
    <p:sldId id="260" r:id="rId6"/>
    <p:sldId id="261" r:id="rId7"/>
    <p:sldId id="262" r:id="rId8"/>
    <p:sldId id="264" r:id="rId9"/>
    <p:sldId id="266" r:id="rId10"/>
    <p:sldId id="270" r:id="rId11"/>
    <p:sldId id="268" r:id="rId12"/>
    <p:sldId id="269"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ratz 456" initials="P4" lastIdx="1" clrIdx="0">
    <p:extLst>
      <p:ext uri="{19B8F6BF-5375-455C-9EA6-DF929625EA0E}">
        <p15:presenceInfo xmlns:p15="http://schemas.microsoft.com/office/powerpoint/2012/main" userId="8c3f9bc9f3d2b6a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311" autoAdjust="0"/>
  </p:normalViewPr>
  <p:slideViewPr>
    <p:cSldViewPr snapToGrid="0" snapToObjects="1">
      <p:cViewPr varScale="1">
        <p:scale>
          <a:sx n="80" d="100"/>
          <a:sy n="80" d="100"/>
        </p:scale>
        <p:origin x="75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04-27T08:09:06.793" idx="1">
    <p:pos x="1930" y="2512"/>
    <p:text/>
    <p:extLst>
      <p:ext uri="{C676402C-5697-4E1C-873F-D02D1690AC5C}">
        <p15:threadingInfo xmlns:p15="http://schemas.microsoft.com/office/powerpoint/2012/main" timeZoneBias="-330"/>
      </p:ext>
    </p:extLst>
  </p:cm>
</p:cmLst>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5BCAD085-E8A6-8845-BD4E-CB4CCA059FC4}" type="datetimeFigureOut">
              <a:rPr lang="en-US" smtClean="0"/>
              <a:t>4/27/2026</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672796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983902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952651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981537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4/27/2026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528704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4/27/2026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645342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503722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315143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4/27/2026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300769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985807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546611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3698960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045791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4/27/2026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577993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4/27/2026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856570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751395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267266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BCAD085-E8A6-8845-BD4E-CB4CCA059FC4}" type="datetimeFigureOut">
              <a:rPr lang="en-US" smtClean="0"/>
              <a:t>4/27/2026</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322739862"/>
      </p:ext>
    </p:extLst>
  </p:cSld>
  <p:clrMap bg1="dk1" tx1="lt1" bg2="dk2" tx2="lt2" accent1="accent1" accent2="accent2" accent3="accent3" accent4="accent4" accent5="accent5" accent6="accent6" hlink="hlink" folHlink="folHlink"/>
  <p:sldLayoutIdLst>
    <p:sldLayoutId id="2147484025" r:id="rId1"/>
    <p:sldLayoutId id="2147484026" r:id="rId2"/>
    <p:sldLayoutId id="2147484027" r:id="rId3"/>
    <p:sldLayoutId id="2147484028" r:id="rId4"/>
    <p:sldLayoutId id="2147484029" r:id="rId5"/>
    <p:sldLayoutId id="2147484030" r:id="rId6"/>
    <p:sldLayoutId id="2147484031" r:id="rId7"/>
    <p:sldLayoutId id="2147484032" r:id="rId8"/>
    <p:sldLayoutId id="2147484033" r:id="rId9"/>
    <p:sldLayoutId id="2147484034" r:id="rId10"/>
    <p:sldLayoutId id="2147484035" r:id="rId11"/>
    <p:sldLayoutId id="2147484036" r:id="rId12"/>
    <p:sldLayoutId id="2147484037" r:id="rId13"/>
    <p:sldLayoutId id="2147484038" r:id="rId14"/>
    <p:sldLayoutId id="2147484039" r:id="rId15"/>
    <p:sldLayoutId id="2147484040" r:id="rId16"/>
    <p:sldLayoutId id="2147484041" r:id="rId17"/>
  </p:sldLayoutIdLst>
  <p:txStyles>
    <p:titleStyle>
      <a:lvl1pPr algn="l" defTabSz="914400" rtl="0" eaLnBrk="1" latinLnBrk="0" hangingPunct="1">
        <a:lnSpc>
          <a:spcPct val="90000"/>
        </a:lnSpc>
        <a:spcBef>
          <a:spcPct val="0"/>
        </a:spcBef>
        <a:buNone/>
        <a:defRPr sz="3600" kern="1200" cap="all" baseline="0">
          <a:solidFill>
            <a:schemeClr val="tx1"/>
          </a:solidFill>
          <a:effectLst>
            <a:outerShdw blurRad="177800" dist="38100" dir="2700000" algn="tl">
              <a:srgbClr val="000000">
                <a:alpha val="24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effectLst>
            <a:outerShdw blurRad="152400" dist="38100" dir="2700000" algn="tl">
              <a:srgbClr val="000000">
                <a:alpha val="36000"/>
              </a:srgbClr>
            </a:outerShdw>
          </a:effectLst>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effectLst>
            <a:outerShdw blurRad="152400" dist="38100" dir="2700000" algn="tl">
              <a:srgbClr val="000000">
                <a:alpha val="36000"/>
              </a:srgbClr>
            </a:outerShdw>
          </a:effectLst>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effectLst>
            <a:outerShdw blurRad="152400" dist="38100" dir="2700000" algn="tl">
              <a:srgbClr val="000000">
                <a:alpha val="36000"/>
              </a:srgbClr>
            </a:outerShdw>
          </a:effectLst>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effectLst>
            <a:outerShdw blurRad="152400" dist="38100" dir="2700000" algn="tl">
              <a:srgbClr val="000000">
                <a:alpha val="36000"/>
              </a:srgbClr>
            </a:outerShdw>
          </a:effectLst>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effectLst>
            <a:outerShdw blurRad="152400" dist="38100" dir="2700000" algn="tl">
              <a:srgbClr val="000000">
                <a:alpha val="36000"/>
              </a:srgbClr>
            </a:outerShdw>
          </a:effectLst>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01416" y="1989955"/>
            <a:ext cx="10904524" cy="584775"/>
          </a:xfrm>
          <a:prstGeom prst="rect">
            <a:avLst/>
          </a:prstGeom>
          <a:noFill/>
        </p:spPr>
        <p:txBody>
          <a:bodyPr wrap="none">
            <a:spAutoFit/>
          </a:bodyPr>
          <a:lstStyle/>
          <a:p>
            <a:r>
              <a:rPr sz="3200" b="1" dirty="0">
                <a:solidFill>
                  <a:srgbClr val="1F3864"/>
                </a:solidFill>
                <a:latin typeface="Times New Roman" panose="02020603050405020304" pitchFamily="18" charset="0"/>
                <a:cs typeface="Times New Roman" panose="02020603050405020304" pitchFamily="18" charset="0"/>
              </a:rPr>
              <a:t>Sentiment Analysis of Restaurant Reviews in </a:t>
            </a:r>
            <a:r>
              <a:rPr sz="3200" b="1" dirty="0" err="1">
                <a:solidFill>
                  <a:srgbClr val="1F3864"/>
                </a:solidFill>
                <a:latin typeface="Times New Roman" panose="02020603050405020304" pitchFamily="18" charset="0"/>
                <a:cs typeface="Times New Roman" panose="02020603050405020304" pitchFamily="18" charset="0"/>
              </a:rPr>
              <a:t>Majitar</a:t>
            </a:r>
            <a:r>
              <a:rPr sz="3200" b="1" dirty="0">
                <a:solidFill>
                  <a:srgbClr val="1F3864"/>
                </a:solidFill>
                <a:latin typeface="Times New Roman" panose="02020603050405020304" pitchFamily="18" charset="0"/>
                <a:cs typeface="Times New Roman" panose="02020603050405020304" pitchFamily="18" charset="0"/>
              </a:rPr>
              <a:t>, Sikkim</a:t>
            </a:r>
          </a:p>
        </p:txBody>
      </p:sp>
      <p:sp>
        <p:nvSpPr>
          <p:cNvPr id="3" name="TextBox 2"/>
          <p:cNvSpPr txBox="1"/>
          <p:nvPr/>
        </p:nvSpPr>
        <p:spPr>
          <a:xfrm>
            <a:off x="1085850" y="5019675"/>
            <a:ext cx="4269263" cy="810478"/>
          </a:xfrm>
          <a:prstGeom prst="rect">
            <a:avLst/>
          </a:prstGeom>
          <a:noFill/>
        </p:spPr>
        <p:txBody>
          <a:bodyPr wrap="square">
            <a:spAutoFit/>
          </a:bodyPr>
          <a:lstStyle/>
          <a:p>
            <a:pPr>
              <a:spcAft>
                <a:spcPts val="800"/>
              </a:spcAft>
            </a:pPr>
            <a:r>
              <a:rPr sz="2000" dirty="0">
                <a:latin typeface="Times New Roman" panose="02020603050405020304" pitchFamily="18" charset="0"/>
                <a:cs typeface="Times New Roman" panose="02020603050405020304" pitchFamily="18" charset="0"/>
              </a:rPr>
              <a:t>Presented by: </a:t>
            </a:r>
            <a:r>
              <a:rPr lang="en-US" sz="2000" dirty="0" err="1">
                <a:latin typeface="Times New Roman" panose="02020603050405020304" pitchFamily="18" charset="0"/>
                <a:cs typeface="Times New Roman" panose="02020603050405020304" pitchFamily="18" charset="0"/>
              </a:rPr>
              <a:t>Pratyus</a:t>
            </a:r>
            <a:r>
              <a:rPr lang="en-US" sz="2000" dirty="0">
                <a:latin typeface="Times New Roman" panose="02020603050405020304" pitchFamily="18" charset="0"/>
                <a:cs typeface="Times New Roman" panose="02020603050405020304" pitchFamily="18" charset="0"/>
              </a:rPr>
              <a:t> Pradhan</a:t>
            </a:r>
            <a:endParaRPr sz="2000" dirty="0">
              <a:latin typeface="Times New Roman" panose="02020603050405020304" pitchFamily="18" charset="0"/>
              <a:cs typeface="Times New Roman" panose="02020603050405020304" pitchFamily="18" charset="0"/>
            </a:endParaRPr>
          </a:p>
          <a:p>
            <a:pPr>
              <a:spcAft>
                <a:spcPts val="800"/>
              </a:spcAft>
            </a:pPr>
            <a:r>
              <a:rPr sz="2000" dirty="0">
                <a:latin typeface="Times New Roman" panose="02020603050405020304" pitchFamily="18" charset="0"/>
                <a:cs typeface="Times New Roman" panose="02020603050405020304" pitchFamily="18" charset="0"/>
              </a:rPr>
              <a:t>Department: </a:t>
            </a:r>
            <a:r>
              <a:rPr lang="en-US" sz="2000" dirty="0">
                <a:latin typeface="Times New Roman" panose="02020603050405020304" pitchFamily="18" charset="0"/>
                <a:cs typeface="Times New Roman" panose="02020603050405020304" pitchFamily="18" charset="0"/>
              </a:rPr>
              <a:t>AI&amp;DS</a:t>
            </a:r>
            <a:endParaRPr sz="2000" dirty="0">
              <a:latin typeface="Times New Roman" panose="02020603050405020304" pitchFamily="18" charset="0"/>
              <a:cs typeface="Times New Roman" panose="02020603050405020304" pitchFamily="18" charset="0"/>
            </a:endParaRPr>
          </a:p>
        </p:txBody>
      </p:sp>
      <p:cxnSp>
        <p:nvCxnSpPr>
          <p:cNvPr id="5" name="Straight Connector 4">
            <a:extLst>
              <a:ext uri="{FF2B5EF4-FFF2-40B4-BE49-F238E27FC236}">
                <a16:creationId xmlns:a16="http://schemas.microsoft.com/office/drawing/2014/main" id="{3080727C-6C04-1560-781A-53D23F85B8FC}"/>
              </a:ext>
            </a:extLst>
          </p:cNvPr>
          <p:cNvCxnSpPr/>
          <p:nvPr/>
        </p:nvCxnSpPr>
        <p:spPr>
          <a:xfrm>
            <a:off x="895350" y="2574730"/>
            <a:ext cx="10677525" cy="0"/>
          </a:xfrm>
          <a:prstGeom prst="line">
            <a:avLst/>
          </a:prstGeom>
        </p:spPr>
        <p:style>
          <a:lnRef idx="3">
            <a:schemeClr val="dk1"/>
          </a:lnRef>
          <a:fillRef idx="0">
            <a:schemeClr val="dk1"/>
          </a:fillRef>
          <a:effectRef idx="2">
            <a:schemeClr val="dk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23521" y="1264117"/>
            <a:ext cx="2466053" cy="523220"/>
          </a:xfrm>
          <a:prstGeom prst="rect">
            <a:avLst/>
          </a:prstGeom>
          <a:noFill/>
        </p:spPr>
        <p:txBody>
          <a:bodyPr wrap="square">
            <a:spAutoFit/>
          </a:bodyPr>
          <a:lstStyle/>
          <a:p>
            <a:r>
              <a:rPr sz="2800" b="1" dirty="0">
                <a:solidFill>
                  <a:srgbClr val="1F3864"/>
                </a:solidFill>
                <a:latin typeface="Times New Roman" panose="02020603050405020304" pitchFamily="18" charset="0"/>
                <a:cs typeface="Times New Roman" panose="02020603050405020304" pitchFamily="18" charset="0"/>
              </a:rPr>
              <a:t>Introduction</a:t>
            </a:r>
          </a:p>
        </p:txBody>
      </p:sp>
      <p:sp>
        <p:nvSpPr>
          <p:cNvPr id="3" name="TextBox 2"/>
          <p:cNvSpPr txBox="1"/>
          <p:nvPr/>
        </p:nvSpPr>
        <p:spPr>
          <a:xfrm>
            <a:off x="1182120" y="2052719"/>
            <a:ext cx="8127790" cy="4462760"/>
          </a:xfrm>
          <a:prstGeom prst="rect">
            <a:avLst/>
          </a:prstGeom>
          <a:noFill/>
        </p:spPr>
        <p:txBody>
          <a:bodyPr wrap="square">
            <a:spAutoFit/>
          </a:bodyPr>
          <a:lstStyle/>
          <a:p>
            <a:pPr algn="just">
              <a:spcAft>
                <a:spcPts val="800"/>
              </a:spcAft>
            </a:pPr>
            <a:r>
              <a:rPr lang="en-US" sz="2400" dirty="0">
                <a:latin typeface="Times New Roman" panose="02020603050405020304" pitchFamily="18" charset="0"/>
                <a:cs typeface="Times New Roman" panose="02020603050405020304" pitchFamily="18" charset="0"/>
              </a:rPr>
              <a:t>Customers rely on online reviews before visiting restaurants.</a:t>
            </a:r>
          </a:p>
          <a:p>
            <a:pPr algn="just">
              <a:spcAft>
                <a:spcPts val="800"/>
              </a:spcAft>
            </a:pPr>
            <a:r>
              <a:rPr lang="en-US" sz="2400" dirty="0">
                <a:latin typeface="Times New Roman" panose="02020603050405020304" pitchFamily="18" charset="0"/>
                <a:cs typeface="Times New Roman" panose="02020603050405020304" pitchFamily="18" charset="0"/>
              </a:rPr>
              <a:t>This project classifies reviews as Positive, Negative, or Neutral.</a:t>
            </a:r>
          </a:p>
          <a:p>
            <a:pPr algn="just">
              <a:spcAft>
                <a:spcPts val="800"/>
              </a:spcAft>
            </a:pPr>
            <a:r>
              <a:rPr lang="en-US" sz="2400" dirty="0">
                <a:latin typeface="Times New Roman" panose="02020603050405020304" pitchFamily="18" charset="0"/>
                <a:cs typeface="Times New Roman" panose="02020603050405020304" pitchFamily="18" charset="0"/>
              </a:rPr>
              <a:t>It helps summarize public opinion quickly.</a:t>
            </a:r>
          </a:p>
          <a:p>
            <a:pPr algn="just"/>
            <a:r>
              <a:rPr lang="en-US" sz="2400" b="1" dirty="0"/>
              <a:t>Sentiment Analysis</a:t>
            </a:r>
            <a:r>
              <a:rPr lang="en-US" sz="2400" dirty="0"/>
              <a:t> is a technique in Natural Language Processing used to determine the </a:t>
            </a:r>
            <a:r>
              <a:rPr lang="en-US" sz="2400" b="1" dirty="0"/>
              <a:t>emotional tone or opinion</a:t>
            </a:r>
            <a:r>
              <a:rPr lang="en-US" sz="2400" dirty="0"/>
              <a:t> expressed in text. It helps identify whether a piece of text is:</a:t>
            </a:r>
          </a:p>
          <a:p>
            <a:pPr algn="just"/>
            <a:r>
              <a:rPr lang="en-US" sz="2400" b="1" dirty="0"/>
              <a:t>Positive</a:t>
            </a:r>
            <a:r>
              <a:rPr lang="en-US" sz="2400" dirty="0"/>
              <a:t> 😊 </a:t>
            </a:r>
          </a:p>
          <a:p>
            <a:pPr algn="just"/>
            <a:r>
              <a:rPr lang="en-US" sz="2400" b="1" dirty="0"/>
              <a:t>Negative</a:t>
            </a:r>
            <a:r>
              <a:rPr lang="en-US" sz="2400" dirty="0"/>
              <a:t> 😠 </a:t>
            </a:r>
          </a:p>
          <a:p>
            <a:pPr algn="just"/>
            <a:r>
              <a:rPr lang="en-US" sz="2400" b="1" dirty="0"/>
              <a:t>Neutral</a:t>
            </a:r>
            <a:r>
              <a:rPr lang="en-US" sz="2400" dirty="0"/>
              <a:t> 😐 </a:t>
            </a:r>
          </a:p>
          <a:p>
            <a:pPr algn="just"/>
            <a:r>
              <a:rPr lang="en-US" sz="2400" dirty="0"/>
              <a:t>Sometimes it can also detect more detailed emotions like happiness, anger, sadness, or frustration.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63267" y="1531856"/>
            <a:ext cx="3142142" cy="523220"/>
          </a:xfrm>
          <a:prstGeom prst="rect">
            <a:avLst/>
          </a:prstGeom>
          <a:noFill/>
        </p:spPr>
        <p:txBody>
          <a:bodyPr wrap="none">
            <a:spAutoFit/>
          </a:bodyPr>
          <a:lstStyle/>
          <a:p>
            <a:r>
              <a:rPr sz="2800" b="1" dirty="0">
                <a:solidFill>
                  <a:srgbClr val="1F3864"/>
                </a:solidFill>
                <a:latin typeface="Times New Roman" panose="02020603050405020304" pitchFamily="18" charset="0"/>
                <a:cs typeface="Times New Roman" panose="02020603050405020304" pitchFamily="18" charset="0"/>
              </a:rPr>
              <a:t>Problem Statement</a:t>
            </a:r>
          </a:p>
        </p:txBody>
      </p:sp>
      <p:sp>
        <p:nvSpPr>
          <p:cNvPr id="3" name="TextBox 2"/>
          <p:cNvSpPr txBox="1"/>
          <p:nvPr/>
        </p:nvSpPr>
        <p:spPr>
          <a:xfrm>
            <a:off x="1163267" y="3212746"/>
            <a:ext cx="7806881" cy="1590179"/>
          </a:xfrm>
          <a:prstGeom prst="rect">
            <a:avLst/>
          </a:prstGeom>
          <a:noFill/>
        </p:spPr>
        <p:txBody>
          <a:bodyPr wrap="none">
            <a:spAutoFit/>
          </a:bodyPr>
          <a:lstStyle/>
          <a:p>
            <a:pPr marL="342900" indent="-342900" algn="just">
              <a:spcAft>
                <a:spcPts val="800"/>
              </a:spcAft>
              <a:buFont typeface="Arial" panose="020B0604020202020204" pitchFamily="34" charset="0"/>
              <a:buChar char="•"/>
            </a:pPr>
            <a:r>
              <a:rPr sz="2800" dirty="0">
                <a:latin typeface="Times New Roman" panose="02020603050405020304" pitchFamily="18" charset="0"/>
                <a:cs typeface="Times New Roman" panose="02020603050405020304" pitchFamily="18" charset="0"/>
              </a:rPr>
              <a:t>Reading hundreds of reviews manually is difficult.</a:t>
            </a:r>
          </a:p>
          <a:p>
            <a:pPr marL="342900" indent="-342900" algn="just">
              <a:spcAft>
                <a:spcPts val="800"/>
              </a:spcAft>
              <a:buFont typeface="Arial" panose="020B0604020202020204" pitchFamily="34" charset="0"/>
              <a:buChar char="•"/>
            </a:pPr>
            <a:r>
              <a:rPr sz="2800" dirty="0">
                <a:latin typeface="Times New Roman" panose="02020603050405020304" pitchFamily="18" charset="0"/>
                <a:cs typeface="Times New Roman" panose="02020603050405020304" pitchFamily="18" charset="0"/>
              </a:rPr>
              <a:t>Restaurant owners need fast feedback insights.</a:t>
            </a:r>
          </a:p>
          <a:p>
            <a:pPr marL="342900" indent="-342900" algn="just">
              <a:spcAft>
                <a:spcPts val="800"/>
              </a:spcAft>
              <a:buFont typeface="Arial" panose="020B0604020202020204" pitchFamily="34" charset="0"/>
              <a:buChar char="•"/>
            </a:pPr>
            <a:r>
              <a:rPr sz="2800" dirty="0">
                <a:latin typeface="Times New Roman" panose="02020603050405020304" pitchFamily="18" charset="0"/>
                <a:cs typeface="Times New Roman" panose="02020603050405020304" pitchFamily="18" charset="0"/>
              </a:rPr>
              <a:t>Users need trustworthy recommendations.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16134" y="1516301"/>
            <a:ext cx="1798890" cy="523220"/>
          </a:xfrm>
          <a:prstGeom prst="rect">
            <a:avLst/>
          </a:prstGeom>
          <a:noFill/>
        </p:spPr>
        <p:txBody>
          <a:bodyPr wrap="none">
            <a:spAutoFit/>
          </a:bodyPr>
          <a:lstStyle/>
          <a:p>
            <a:r>
              <a:rPr sz="2800" b="1" dirty="0">
                <a:solidFill>
                  <a:srgbClr val="1F3864"/>
                </a:solidFill>
                <a:latin typeface="Times New Roman" panose="02020603050405020304" pitchFamily="18" charset="0"/>
                <a:cs typeface="Times New Roman" panose="02020603050405020304" pitchFamily="18" charset="0"/>
              </a:rPr>
              <a:t>Objectives</a:t>
            </a:r>
          </a:p>
        </p:txBody>
      </p:sp>
      <p:sp>
        <p:nvSpPr>
          <p:cNvPr id="3" name="TextBox 2"/>
          <p:cNvSpPr txBox="1"/>
          <p:nvPr/>
        </p:nvSpPr>
        <p:spPr>
          <a:xfrm>
            <a:off x="1116134" y="2888373"/>
            <a:ext cx="7439088" cy="2657138"/>
          </a:xfrm>
          <a:prstGeom prst="rect">
            <a:avLst/>
          </a:prstGeom>
          <a:noFill/>
        </p:spPr>
        <p:txBody>
          <a:bodyPr wrap="none">
            <a:spAutoFit/>
          </a:bodyPr>
          <a:lstStyle/>
          <a:p>
            <a:pPr marL="457200" indent="-457200" algn="just">
              <a:spcAft>
                <a:spcPts val="800"/>
              </a:spcAft>
              <a:buFont typeface="Arial" panose="020B0604020202020204" pitchFamily="34" charset="0"/>
              <a:buChar char="•"/>
            </a:pPr>
            <a:r>
              <a:rPr sz="2800" dirty="0">
                <a:latin typeface="Times New Roman" panose="02020603050405020304" pitchFamily="18" charset="0"/>
                <a:cs typeface="Times New Roman" panose="02020603050405020304" pitchFamily="18" charset="0"/>
              </a:rPr>
              <a:t>Collect review data for </a:t>
            </a:r>
            <a:r>
              <a:rPr sz="2800" dirty="0" err="1">
                <a:latin typeface="Times New Roman" panose="02020603050405020304" pitchFamily="18" charset="0"/>
                <a:cs typeface="Times New Roman" panose="02020603050405020304" pitchFamily="18" charset="0"/>
              </a:rPr>
              <a:t>Majitar</a:t>
            </a:r>
            <a:r>
              <a:rPr lang="en-US" sz="280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area restaurants</a:t>
            </a:r>
          </a:p>
          <a:p>
            <a:pPr marL="457200" indent="-457200" algn="just">
              <a:spcAft>
                <a:spcPts val="800"/>
              </a:spcAft>
              <a:buFont typeface="Arial" panose="020B0604020202020204" pitchFamily="34" charset="0"/>
              <a:buChar char="•"/>
            </a:pPr>
            <a:r>
              <a:rPr sz="2800" dirty="0">
                <a:latin typeface="Times New Roman" panose="02020603050405020304" pitchFamily="18" charset="0"/>
                <a:cs typeface="Times New Roman" panose="02020603050405020304" pitchFamily="18" charset="0"/>
              </a:rPr>
              <a:t>Preprocess text data</a:t>
            </a:r>
          </a:p>
          <a:p>
            <a:pPr marL="457200" indent="-457200" algn="just">
              <a:spcAft>
                <a:spcPts val="800"/>
              </a:spcAft>
              <a:buFont typeface="Arial" panose="020B0604020202020204" pitchFamily="34" charset="0"/>
              <a:buChar char="•"/>
            </a:pPr>
            <a:r>
              <a:rPr sz="2800" dirty="0">
                <a:latin typeface="Times New Roman" panose="02020603050405020304" pitchFamily="18" charset="0"/>
                <a:cs typeface="Times New Roman" panose="02020603050405020304" pitchFamily="18" charset="0"/>
              </a:rPr>
              <a:t>Train machine learning models</a:t>
            </a:r>
          </a:p>
          <a:p>
            <a:pPr marL="457200" indent="-457200" algn="just">
              <a:spcAft>
                <a:spcPts val="800"/>
              </a:spcAft>
              <a:buFont typeface="Arial" panose="020B0604020202020204" pitchFamily="34" charset="0"/>
              <a:buChar char="•"/>
            </a:pPr>
            <a:r>
              <a:rPr sz="2800" dirty="0">
                <a:latin typeface="Times New Roman" panose="02020603050405020304" pitchFamily="18" charset="0"/>
                <a:cs typeface="Times New Roman" panose="02020603050405020304" pitchFamily="18" charset="0"/>
              </a:rPr>
              <a:t>Evaluate model performance</a:t>
            </a:r>
          </a:p>
          <a:p>
            <a:pPr marL="457200" indent="-457200" algn="just">
              <a:spcAft>
                <a:spcPts val="800"/>
              </a:spcAft>
              <a:buFont typeface="Arial" panose="020B0604020202020204" pitchFamily="34" charset="0"/>
              <a:buChar char="•"/>
            </a:pPr>
            <a:r>
              <a:rPr sz="2800" dirty="0">
                <a:latin typeface="Times New Roman" panose="02020603050405020304" pitchFamily="18" charset="0"/>
                <a:cs typeface="Times New Roman" panose="02020603050405020304" pitchFamily="18" charset="0"/>
              </a:rPr>
              <a:t>Build a prediction dashboard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03012" y="1029407"/>
            <a:ext cx="1342034" cy="523220"/>
          </a:xfrm>
          <a:prstGeom prst="rect">
            <a:avLst/>
          </a:prstGeom>
          <a:noFill/>
        </p:spPr>
        <p:txBody>
          <a:bodyPr wrap="none">
            <a:spAutoFit/>
          </a:bodyPr>
          <a:lstStyle/>
          <a:p>
            <a:r>
              <a:rPr sz="2800" b="1" dirty="0">
                <a:solidFill>
                  <a:srgbClr val="1F3864"/>
                </a:solidFill>
                <a:latin typeface="Times New Roman" panose="02020603050405020304" pitchFamily="18" charset="0"/>
                <a:cs typeface="Times New Roman" panose="02020603050405020304" pitchFamily="18" charset="0"/>
              </a:rPr>
              <a:t>Dataset</a:t>
            </a:r>
          </a:p>
        </p:txBody>
      </p:sp>
      <p:sp>
        <p:nvSpPr>
          <p:cNvPr id="3" name="TextBox 2"/>
          <p:cNvSpPr txBox="1"/>
          <p:nvPr/>
        </p:nvSpPr>
        <p:spPr>
          <a:xfrm>
            <a:off x="1003012" y="4206370"/>
            <a:ext cx="5086649" cy="2041585"/>
          </a:xfrm>
          <a:prstGeom prst="rect">
            <a:avLst/>
          </a:prstGeom>
          <a:noFill/>
        </p:spPr>
        <p:txBody>
          <a:bodyPr wrap="none">
            <a:spAutoFit/>
          </a:bodyPr>
          <a:lstStyle/>
          <a:p>
            <a:pPr marL="342900" indent="-342900" algn="just">
              <a:spcAft>
                <a:spcPts val="800"/>
              </a:spcAft>
              <a:buFont typeface="Arial" panose="020B0604020202020204" pitchFamily="34" charset="0"/>
              <a:buChar char="•"/>
            </a:pPr>
            <a:r>
              <a:rPr sz="2000" dirty="0">
                <a:latin typeface="Times New Roman" panose="02020603050405020304" pitchFamily="18" charset="0"/>
                <a:cs typeface="Times New Roman" panose="02020603050405020304" pitchFamily="18" charset="0"/>
              </a:rPr>
              <a:t>500 labeled reviews used for training/testing</a:t>
            </a:r>
          </a:p>
          <a:p>
            <a:pPr marL="342900" indent="-342900" algn="just">
              <a:spcAft>
                <a:spcPts val="800"/>
              </a:spcAft>
              <a:buFont typeface="Arial" panose="020B0604020202020204" pitchFamily="34" charset="0"/>
              <a:buChar char="•"/>
            </a:pPr>
            <a:r>
              <a:rPr sz="2000" dirty="0">
                <a:latin typeface="Times New Roman" panose="02020603050405020304" pitchFamily="18" charset="0"/>
                <a:cs typeface="Times New Roman" panose="02020603050405020304" pitchFamily="18" charset="0"/>
              </a:rPr>
              <a:t>Positive: ~170</a:t>
            </a:r>
          </a:p>
          <a:p>
            <a:pPr marL="342900" indent="-342900" algn="just">
              <a:spcAft>
                <a:spcPts val="800"/>
              </a:spcAft>
              <a:buFont typeface="Arial" panose="020B0604020202020204" pitchFamily="34" charset="0"/>
              <a:buChar char="•"/>
            </a:pPr>
            <a:r>
              <a:rPr sz="2000" dirty="0">
                <a:latin typeface="Times New Roman" panose="02020603050405020304" pitchFamily="18" charset="0"/>
                <a:cs typeface="Times New Roman" panose="02020603050405020304" pitchFamily="18" charset="0"/>
              </a:rPr>
              <a:t>Negative: ~165</a:t>
            </a:r>
          </a:p>
          <a:p>
            <a:pPr marL="342900" indent="-342900" algn="just">
              <a:spcAft>
                <a:spcPts val="800"/>
              </a:spcAft>
              <a:buFont typeface="Arial" panose="020B0604020202020204" pitchFamily="34" charset="0"/>
              <a:buChar char="•"/>
            </a:pPr>
            <a:r>
              <a:rPr sz="2000" dirty="0">
                <a:latin typeface="Times New Roman" panose="02020603050405020304" pitchFamily="18" charset="0"/>
                <a:cs typeface="Times New Roman" panose="02020603050405020304" pitchFamily="18" charset="0"/>
              </a:rPr>
              <a:t>Neutral: ~165</a:t>
            </a:r>
          </a:p>
          <a:p>
            <a:pPr marL="342900" indent="-342900" algn="just">
              <a:spcAft>
                <a:spcPts val="800"/>
              </a:spcAft>
              <a:buFont typeface="Arial" panose="020B0604020202020204" pitchFamily="34" charset="0"/>
              <a:buChar char="•"/>
            </a:pPr>
            <a:r>
              <a:rPr sz="2000" dirty="0">
                <a:latin typeface="Times New Roman" panose="02020603050405020304" pitchFamily="18" charset="0"/>
                <a:cs typeface="Times New Roman" panose="02020603050405020304" pitchFamily="18" charset="0"/>
              </a:rPr>
              <a:t>Balanced dataset improves learning fairness</a:t>
            </a:r>
          </a:p>
        </p:txBody>
      </p:sp>
      <p:sp>
        <p:nvSpPr>
          <p:cNvPr id="4" name="TextBox 3">
            <a:extLst>
              <a:ext uri="{FF2B5EF4-FFF2-40B4-BE49-F238E27FC236}">
                <a16:creationId xmlns:a16="http://schemas.microsoft.com/office/drawing/2014/main" id="{84E2B961-5ED4-23E0-AB8F-2FE8F177445D}"/>
              </a:ext>
            </a:extLst>
          </p:cNvPr>
          <p:cNvSpPr txBox="1"/>
          <p:nvPr/>
        </p:nvSpPr>
        <p:spPr>
          <a:xfrm>
            <a:off x="1003012" y="1630837"/>
            <a:ext cx="6240545" cy="1631216"/>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A dataset of 500 restaurant reviews was created and divided into three categories: positive, negative, and neutral. These reviews represent customer experiences related to food quality, service, ambience, pricing, cleanliness, and overall satisfaction</a:t>
            </a:r>
            <a:r>
              <a:rPr lang="en-US" sz="2000" dirty="0"/>
              <a:t>.</a:t>
            </a:r>
            <a:endParaRPr lang="en-IN" sz="2000" dirty="0"/>
          </a:p>
        </p:txBody>
      </p:sp>
      <p:pic>
        <p:nvPicPr>
          <p:cNvPr id="6" name="Picture 5">
            <a:extLst>
              <a:ext uri="{FF2B5EF4-FFF2-40B4-BE49-F238E27FC236}">
                <a16:creationId xmlns:a16="http://schemas.microsoft.com/office/drawing/2014/main" id="{124D47EF-6A09-0676-2DF8-EF0C26BD40A7}"/>
              </a:ext>
            </a:extLst>
          </p:cNvPr>
          <p:cNvPicPr>
            <a:picLocks noChangeAspect="1"/>
          </p:cNvPicPr>
          <p:nvPr/>
        </p:nvPicPr>
        <p:blipFill>
          <a:blip r:embed="rId2"/>
          <a:stretch>
            <a:fillRect/>
          </a:stretch>
        </p:blipFill>
        <p:spPr>
          <a:xfrm>
            <a:off x="6263169" y="4280723"/>
            <a:ext cx="5811875" cy="18928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27598" y="1446093"/>
            <a:ext cx="2199641" cy="523220"/>
          </a:xfrm>
          <a:prstGeom prst="rect">
            <a:avLst/>
          </a:prstGeom>
          <a:noFill/>
        </p:spPr>
        <p:txBody>
          <a:bodyPr wrap="none">
            <a:spAutoFit/>
          </a:bodyPr>
          <a:lstStyle/>
          <a:p>
            <a:r>
              <a:rPr sz="2800" b="1" dirty="0">
                <a:solidFill>
                  <a:srgbClr val="1F3864"/>
                </a:solidFill>
                <a:latin typeface="Times New Roman" panose="02020603050405020304" pitchFamily="18" charset="0"/>
                <a:cs typeface="Times New Roman" panose="02020603050405020304" pitchFamily="18" charset="0"/>
              </a:rPr>
              <a:t>Methodology</a:t>
            </a:r>
          </a:p>
        </p:txBody>
      </p:sp>
      <p:sp>
        <p:nvSpPr>
          <p:cNvPr id="3" name="TextBox 2"/>
          <p:cNvSpPr txBox="1"/>
          <p:nvPr/>
        </p:nvSpPr>
        <p:spPr>
          <a:xfrm>
            <a:off x="2515072" y="2142766"/>
            <a:ext cx="6205288" cy="3334246"/>
          </a:xfrm>
          <a:prstGeom prst="rect">
            <a:avLst/>
          </a:prstGeom>
          <a:noFill/>
        </p:spPr>
        <p:txBody>
          <a:bodyPr wrap="square">
            <a:spAutoFit/>
          </a:bodyPr>
          <a:lstStyle/>
          <a:p>
            <a:pPr>
              <a:spcAft>
                <a:spcPts val="800"/>
              </a:spcAft>
            </a:pPr>
            <a:r>
              <a:rPr sz="2400" dirty="0">
                <a:solidFill>
                  <a:schemeClr val="bg1"/>
                </a:solidFill>
                <a:latin typeface="Times New Roman" panose="02020603050405020304" pitchFamily="18" charset="0"/>
                <a:cs typeface="Times New Roman" panose="02020603050405020304" pitchFamily="18" charset="0"/>
              </a:rPr>
              <a:t>Collect Reviews → Clean Text → TF-IDF Vectorization</a:t>
            </a:r>
          </a:p>
          <a:p>
            <a:pPr>
              <a:spcAft>
                <a:spcPts val="800"/>
              </a:spcAft>
            </a:pPr>
            <a:r>
              <a:rPr sz="2400" dirty="0">
                <a:solidFill>
                  <a:schemeClr val="bg1"/>
                </a:solidFill>
                <a:latin typeface="Times New Roman" panose="02020603050405020304" pitchFamily="18" charset="0"/>
                <a:cs typeface="Times New Roman" panose="02020603050405020304" pitchFamily="18" charset="0"/>
              </a:rPr>
              <a:t>Train Models → Predict Sentiment → Evaluate Results</a:t>
            </a:r>
          </a:p>
          <a:p>
            <a:pPr>
              <a:spcAft>
                <a:spcPts val="800"/>
              </a:spcAft>
            </a:pPr>
            <a:r>
              <a:rPr sz="2400" dirty="0">
                <a:solidFill>
                  <a:schemeClr val="bg1"/>
                </a:solidFill>
                <a:latin typeface="Times New Roman" panose="02020603050405020304" pitchFamily="18" charset="0"/>
                <a:cs typeface="Times New Roman" panose="02020603050405020304" pitchFamily="18" charset="0"/>
              </a:rPr>
              <a:t>Text cleaning: lowercase, remove punctuation, stop</a:t>
            </a:r>
            <a:r>
              <a:rPr lang="en-US" sz="2400" dirty="0">
                <a:solidFill>
                  <a:schemeClr val="bg1"/>
                </a:solidFill>
                <a:latin typeface="Times New Roman" panose="02020603050405020304" pitchFamily="18" charset="0"/>
                <a:cs typeface="Times New Roman" panose="02020603050405020304" pitchFamily="18" charset="0"/>
              </a:rPr>
              <a:t> </a:t>
            </a:r>
            <a:r>
              <a:rPr sz="2400" dirty="0">
                <a:solidFill>
                  <a:schemeClr val="bg1"/>
                </a:solidFill>
                <a:latin typeface="Times New Roman" panose="02020603050405020304" pitchFamily="18" charset="0"/>
                <a:cs typeface="Times New Roman" panose="02020603050405020304" pitchFamily="18" charset="0"/>
              </a:rPr>
              <a:t>words</a:t>
            </a:r>
            <a:r>
              <a:rPr lang="en-US" sz="2000" dirty="0">
                <a:solidFill>
                  <a:schemeClr val="bg1"/>
                </a:solidFill>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a:spcAft>
                <a:spcPts val="800"/>
              </a:spcAft>
            </a:pPr>
            <a:endParaRPr lang="en-US" sz="2000" dirty="0">
              <a:latin typeface="Times New Roman" panose="02020603050405020304" pitchFamily="18" charset="0"/>
              <a:cs typeface="Times New Roman" panose="02020603050405020304" pitchFamily="18" charset="0"/>
            </a:endParaRPr>
          </a:p>
          <a:p>
            <a:pPr>
              <a:spcAft>
                <a:spcPts val="800"/>
              </a:spcAft>
            </a:pPr>
            <a:endParaRPr sz="2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FCD4CBD-9F7B-A213-3FA8-BCF13E694560}"/>
              </a:ext>
            </a:extLst>
          </p:cNvPr>
          <p:cNvSpPr txBox="1"/>
          <p:nvPr/>
        </p:nvSpPr>
        <p:spPr>
          <a:xfrm>
            <a:off x="1263192" y="5017553"/>
            <a:ext cx="9294829" cy="1323439"/>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Before training the model, the text data goes through preprocessing steps such as converting all words into lowercase, removing punctuation marks, removing unnecessary stop words, and cleaning the sentences. This makes the data more structured and easier for the machine learning model to understand.</a:t>
            </a:r>
            <a:endParaRPr lang="en-IN" sz="2000"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55FC8D6A-77D2-9640-9AD1-A52BDA776F7B}"/>
              </a:ext>
            </a:extLst>
          </p:cNvPr>
          <p:cNvSpPr/>
          <p:nvPr/>
        </p:nvSpPr>
        <p:spPr>
          <a:xfrm>
            <a:off x="2407889" y="2171574"/>
            <a:ext cx="6419654" cy="25148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800"/>
              </a:spcAft>
            </a:pPr>
            <a:r>
              <a:rPr lang="en-IN" sz="2400" dirty="0">
                <a:solidFill>
                  <a:schemeClr val="bg1"/>
                </a:solidFill>
                <a:latin typeface="Times New Roman" panose="02020603050405020304" pitchFamily="18" charset="0"/>
                <a:cs typeface="Times New Roman" panose="02020603050405020304" pitchFamily="18" charset="0"/>
              </a:rPr>
              <a:t>Collect Reviews → Clean Text → TF-IDF Vectorization</a:t>
            </a:r>
          </a:p>
          <a:p>
            <a:pPr>
              <a:spcAft>
                <a:spcPts val="800"/>
              </a:spcAft>
            </a:pPr>
            <a:r>
              <a:rPr lang="en-IN" sz="2400" dirty="0">
                <a:solidFill>
                  <a:schemeClr val="bg1"/>
                </a:solidFill>
                <a:latin typeface="Times New Roman" panose="02020603050405020304" pitchFamily="18" charset="0"/>
                <a:cs typeface="Times New Roman" panose="02020603050405020304" pitchFamily="18" charset="0"/>
              </a:rPr>
              <a:t>Train Models → Predict Sentiment → Evaluate Results</a:t>
            </a:r>
          </a:p>
          <a:p>
            <a:pPr>
              <a:spcAft>
                <a:spcPts val="800"/>
              </a:spcAft>
            </a:pPr>
            <a:r>
              <a:rPr lang="en-IN" sz="2400" dirty="0">
                <a:solidFill>
                  <a:schemeClr val="bg1"/>
                </a:solidFill>
                <a:latin typeface="Times New Roman" panose="02020603050405020304" pitchFamily="18" charset="0"/>
                <a:cs typeface="Times New Roman" panose="02020603050405020304" pitchFamily="18" charset="0"/>
              </a:rPr>
              <a:t>Text cleaning: lowercase, remove punctuation, stop words.</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5381" y="1465851"/>
            <a:ext cx="2148345" cy="523220"/>
          </a:xfrm>
          <a:prstGeom prst="rect">
            <a:avLst/>
          </a:prstGeom>
          <a:noFill/>
        </p:spPr>
        <p:txBody>
          <a:bodyPr wrap="none">
            <a:spAutoFit/>
          </a:bodyPr>
          <a:lstStyle/>
          <a:p>
            <a:r>
              <a:rPr sz="2800" b="1" dirty="0">
                <a:solidFill>
                  <a:srgbClr val="1F3864"/>
                </a:solidFill>
                <a:latin typeface="Times New Roman" panose="02020603050405020304" pitchFamily="18" charset="0"/>
                <a:cs typeface="Times New Roman" panose="02020603050405020304" pitchFamily="18" charset="0"/>
              </a:rPr>
              <a:t>Models Used</a:t>
            </a:r>
          </a:p>
        </p:txBody>
      </p:sp>
      <p:sp>
        <p:nvSpPr>
          <p:cNvPr id="3" name="TextBox 2"/>
          <p:cNvSpPr txBox="1"/>
          <p:nvPr/>
        </p:nvSpPr>
        <p:spPr>
          <a:xfrm>
            <a:off x="1412570" y="1989071"/>
            <a:ext cx="9366860" cy="1590179"/>
          </a:xfrm>
          <a:prstGeom prst="rect">
            <a:avLst/>
          </a:prstGeom>
          <a:noFill/>
        </p:spPr>
        <p:txBody>
          <a:bodyPr wrap="none">
            <a:spAutoFit/>
          </a:bodyPr>
          <a:lstStyle/>
          <a:p>
            <a:pPr>
              <a:spcAft>
                <a:spcPts val="800"/>
              </a:spcAft>
            </a:pPr>
            <a:r>
              <a:rPr sz="2800" dirty="0">
                <a:latin typeface="Times New Roman" panose="02020603050405020304" pitchFamily="18" charset="0"/>
                <a:cs typeface="Times New Roman" panose="02020603050405020304" pitchFamily="18" charset="0"/>
              </a:rPr>
              <a:t>Logistic Regression – strong baseline classifier</a:t>
            </a:r>
          </a:p>
          <a:p>
            <a:pPr>
              <a:spcAft>
                <a:spcPts val="800"/>
              </a:spcAft>
            </a:pPr>
            <a:r>
              <a:rPr sz="2800" dirty="0">
                <a:latin typeface="Times New Roman" panose="02020603050405020304" pitchFamily="18" charset="0"/>
                <a:cs typeface="Times New Roman" panose="02020603050405020304" pitchFamily="18" charset="0"/>
              </a:rPr>
              <a:t>Naive Bayes – fast and efficient for text</a:t>
            </a:r>
          </a:p>
          <a:p>
            <a:pPr>
              <a:spcAft>
                <a:spcPts val="800"/>
              </a:spcAft>
            </a:pPr>
            <a:r>
              <a:rPr sz="2800" dirty="0">
                <a:latin typeface="Times New Roman" panose="02020603050405020304" pitchFamily="18" charset="0"/>
                <a:cs typeface="Times New Roman" panose="02020603050405020304" pitchFamily="18" charset="0"/>
              </a:rPr>
              <a:t>Support Vector Machine (SVM) – often best for sparse text data</a:t>
            </a:r>
          </a:p>
        </p:txBody>
      </p:sp>
      <p:pic>
        <p:nvPicPr>
          <p:cNvPr id="5" name="Picture 4">
            <a:extLst>
              <a:ext uri="{FF2B5EF4-FFF2-40B4-BE49-F238E27FC236}">
                <a16:creationId xmlns:a16="http://schemas.microsoft.com/office/drawing/2014/main" id="{8B4AA7D8-2BB4-4F3D-6E2F-DBF53904F2CC}"/>
              </a:ext>
            </a:extLst>
          </p:cNvPr>
          <p:cNvPicPr>
            <a:picLocks noChangeAspect="1"/>
          </p:cNvPicPr>
          <p:nvPr/>
        </p:nvPicPr>
        <p:blipFill>
          <a:blip r:embed="rId2"/>
          <a:stretch>
            <a:fillRect/>
          </a:stretch>
        </p:blipFill>
        <p:spPr>
          <a:xfrm>
            <a:off x="1752002" y="4102470"/>
            <a:ext cx="8367485" cy="198899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34987" y="1751972"/>
            <a:ext cx="1301959" cy="523220"/>
          </a:xfrm>
          <a:prstGeom prst="rect">
            <a:avLst/>
          </a:prstGeom>
          <a:noFill/>
        </p:spPr>
        <p:txBody>
          <a:bodyPr wrap="none">
            <a:spAutoFit/>
          </a:bodyPr>
          <a:lstStyle/>
          <a:p>
            <a:r>
              <a:rPr sz="2800" b="1" dirty="0">
                <a:solidFill>
                  <a:srgbClr val="1F3864"/>
                </a:solidFill>
                <a:latin typeface="Times New Roman" panose="02020603050405020304" pitchFamily="18" charset="0"/>
                <a:cs typeface="Times New Roman" panose="02020603050405020304" pitchFamily="18" charset="0"/>
              </a:rPr>
              <a:t>Results</a:t>
            </a:r>
          </a:p>
        </p:txBody>
      </p:sp>
      <p:sp>
        <p:nvSpPr>
          <p:cNvPr id="3" name="TextBox 2"/>
          <p:cNvSpPr txBox="1"/>
          <p:nvPr/>
        </p:nvSpPr>
        <p:spPr>
          <a:xfrm>
            <a:off x="1685514" y="2708825"/>
            <a:ext cx="4339650" cy="1590179"/>
          </a:xfrm>
          <a:prstGeom prst="rect">
            <a:avLst/>
          </a:prstGeom>
          <a:noFill/>
        </p:spPr>
        <p:txBody>
          <a:bodyPr wrap="none">
            <a:spAutoFit/>
          </a:bodyPr>
          <a:lstStyle/>
          <a:p>
            <a:pPr>
              <a:spcAft>
                <a:spcPts val="800"/>
              </a:spcAft>
            </a:pPr>
            <a:r>
              <a:rPr lang="en-US" sz="2800" dirty="0">
                <a:latin typeface="Times New Roman" panose="02020603050405020304" pitchFamily="18" charset="0"/>
                <a:cs typeface="Times New Roman" panose="02020603050405020304" pitchFamily="18" charset="0"/>
              </a:rPr>
              <a:t>Logistic Regression: 85.33%</a:t>
            </a:r>
          </a:p>
          <a:p>
            <a:pPr>
              <a:spcAft>
                <a:spcPts val="800"/>
              </a:spcAft>
            </a:pPr>
            <a:r>
              <a:rPr lang="en-US" sz="2800" dirty="0">
                <a:latin typeface="Times New Roman" panose="02020603050405020304" pitchFamily="18" charset="0"/>
                <a:cs typeface="Times New Roman" panose="02020603050405020304" pitchFamily="18" charset="0"/>
              </a:rPr>
              <a:t>Naive Bayes: 66.0%</a:t>
            </a:r>
          </a:p>
          <a:p>
            <a:pPr>
              <a:spcAft>
                <a:spcPts val="800"/>
              </a:spcAft>
            </a:pPr>
            <a:r>
              <a:rPr lang="en-US" sz="2800" dirty="0">
                <a:latin typeface="Times New Roman" panose="02020603050405020304" pitchFamily="18" charset="0"/>
                <a:cs typeface="Times New Roman" panose="02020603050405020304" pitchFamily="18" charset="0"/>
              </a:rPr>
              <a:t>SVM: 96.0%</a:t>
            </a:r>
            <a:endParaRPr sz="28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36BAB905-BA18-7D76-67C6-11761533FD7A}"/>
              </a:ext>
            </a:extLst>
          </p:cNvPr>
          <p:cNvPicPr>
            <a:picLocks noChangeAspect="1"/>
          </p:cNvPicPr>
          <p:nvPr/>
        </p:nvPicPr>
        <p:blipFill>
          <a:blip r:embed="rId2"/>
          <a:stretch>
            <a:fillRect/>
          </a:stretch>
        </p:blipFill>
        <p:spPr>
          <a:xfrm>
            <a:off x="1481334" y="4936171"/>
            <a:ext cx="3856054" cy="130313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93584" y="1870765"/>
            <a:ext cx="2121093" cy="523220"/>
          </a:xfrm>
          <a:prstGeom prst="rect">
            <a:avLst/>
          </a:prstGeom>
          <a:noFill/>
        </p:spPr>
        <p:txBody>
          <a:bodyPr wrap="none">
            <a:spAutoFit/>
          </a:bodyPr>
          <a:lstStyle/>
          <a:p>
            <a:r>
              <a:rPr sz="2800" b="1" dirty="0">
                <a:solidFill>
                  <a:srgbClr val="1F3864"/>
                </a:solidFill>
                <a:latin typeface="Times New Roman" panose="02020603050405020304" pitchFamily="18" charset="0"/>
                <a:cs typeface="Times New Roman" panose="02020603050405020304" pitchFamily="18" charset="0"/>
              </a:rPr>
              <a:t>Applications</a:t>
            </a:r>
          </a:p>
        </p:txBody>
      </p:sp>
      <p:sp>
        <p:nvSpPr>
          <p:cNvPr id="3" name="TextBox 2"/>
          <p:cNvSpPr txBox="1"/>
          <p:nvPr/>
        </p:nvSpPr>
        <p:spPr>
          <a:xfrm>
            <a:off x="1581819" y="2820028"/>
            <a:ext cx="5447325" cy="2123658"/>
          </a:xfrm>
          <a:prstGeom prst="rect">
            <a:avLst/>
          </a:prstGeom>
          <a:noFill/>
        </p:spPr>
        <p:txBody>
          <a:bodyPr wrap="none">
            <a:spAutoFit/>
          </a:bodyPr>
          <a:lstStyle/>
          <a:p>
            <a:pPr marL="457200" indent="-457200" algn="just">
              <a:spcAft>
                <a:spcPts val="800"/>
              </a:spcAft>
              <a:buFont typeface="Arial" panose="020B0604020202020204" pitchFamily="34" charset="0"/>
              <a:buChar char="•"/>
            </a:pPr>
            <a:r>
              <a:rPr sz="2800" dirty="0">
                <a:latin typeface="Times New Roman" panose="02020603050405020304" pitchFamily="18" charset="0"/>
                <a:cs typeface="Times New Roman" panose="02020603050405020304" pitchFamily="18" charset="0"/>
              </a:rPr>
              <a:t>Restaurant ranking by sentiment</a:t>
            </a:r>
          </a:p>
          <a:p>
            <a:pPr marL="457200" indent="-457200" algn="just">
              <a:spcAft>
                <a:spcPts val="800"/>
              </a:spcAft>
              <a:buFont typeface="Arial" panose="020B0604020202020204" pitchFamily="34" charset="0"/>
              <a:buChar char="•"/>
            </a:pPr>
            <a:r>
              <a:rPr sz="2800" dirty="0">
                <a:latin typeface="Times New Roman" panose="02020603050405020304" pitchFamily="18" charset="0"/>
                <a:cs typeface="Times New Roman" panose="02020603050405020304" pitchFamily="18" charset="0"/>
              </a:rPr>
              <a:t>Customer satisfaction monitoring</a:t>
            </a:r>
          </a:p>
          <a:p>
            <a:pPr marL="457200" indent="-457200" algn="just">
              <a:spcAft>
                <a:spcPts val="800"/>
              </a:spcAft>
              <a:buFont typeface="Arial" panose="020B0604020202020204" pitchFamily="34" charset="0"/>
              <a:buChar char="•"/>
            </a:pPr>
            <a:r>
              <a:rPr sz="2800" dirty="0">
                <a:latin typeface="Times New Roman" panose="02020603050405020304" pitchFamily="18" charset="0"/>
                <a:cs typeface="Times New Roman" panose="02020603050405020304" pitchFamily="18" charset="0"/>
              </a:rPr>
              <a:t>Business decision support</a:t>
            </a:r>
          </a:p>
          <a:p>
            <a:pPr marL="457200" indent="-457200" algn="just">
              <a:spcAft>
                <a:spcPts val="800"/>
              </a:spcAft>
              <a:buFont typeface="Arial" panose="020B0604020202020204" pitchFamily="34" charset="0"/>
              <a:buChar char="•"/>
            </a:pPr>
            <a:r>
              <a:rPr sz="2800" dirty="0">
                <a:latin typeface="Times New Roman" panose="02020603050405020304" pitchFamily="18" charset="0"/>
                <a:cs typeface="Times New Roman" panose="02020603050405020304" pitchFamily="18" charset="0"/>
              </a:rPr>
              <a:t>Recommendation systems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34C23-CC25-26A8-15A0-51273BCDEC69}"/>
              </a:ext>
            </a:extLst>
          </p:cNvPr>
          <p:cNvSpPr>
            <a:spLocks noGrp="1"/>
          </p:cNvSpPr>
          <p:nvPr>
            <p:ph type="title"/>
          </p:nvPr>
        </p:nvSpPr>
        <p:spPr/>
        <p:txBody>
          <a:bodyPr/>
          <a:lstStyle/>
          <a:p>
            <a:r>
              <a:rPr lang="en-IN" sz="2800" b="1" dirty="0">
                <a:solidFill>
                  <a:srgbClr val="1F3864"/>
                </a:solidFill>
                <a:latin typeface="Times New Roman" panose="02020603050405020304" pitchFamily="18" charset="0"/>
                <a:cs typeface="Times New Roman" panose="02020603050405020304" pitchFamily="18" charset="0"/>
              </a:rPr>
              <a:t>Code SNIPPETS</a:t>
            </a:r>
            <a:br>
              <a:rPr lang="en-IN" b="1" dirty="0">
                <a:solidFill>
                  <a:srgbClr val="1F3864"/>
                </a:solidFill>
                <a:latin typeface="Times New Roman" panose="02020603050405020304" pitchFamily="18" charset="0"/>
                <a:cs typeface="Times New Roman" panose="02020603050405020304" pitchFamily="18" charset="0"/>
              </a:rPr>
            </a:br>
            <a:br>
              <a:rPr lang="en-US" dirty="0"/>
            </a:br>
            <a:endParaRPr lang="en-IN" dirty="0"/>
          </a:p>
        </p:txBody>
      </p:sp>
      <p:pic>
        <p:nvPicPr>
          <p:cNvPr id="7" name="Content Placeholder 6">
            <a:extLst>
              <a:ext uri="{FF2B5EF4-FFF2-40B4-BE49-F238E27FC236}">
                <a16:creationId xmlns:a16="http://schemas.microsoft.com/office/drawing/2014/main" id="{A4DFDC03-90F4-0704-C7EC-61A6C53BB2EC}"/>
              </a:ext>
            </a:extLst>
          </p:cNvPr>
          <p:cNvPicPr>
            <a:picLocks noGrp="1" noChangeAspect="1"/>
          </p:cNvPicPr>
          <p:nvPr>
            <p:ph idx="1"/>
          </p:nvPr>
        </p:nvPicPr>
        <p:blipFill>
          <a:blip r:embed="rId2"/>
          <a:stretch>
            <a:fillRect/>
          </a:stretch>
        </p:blipFill>
        <p:spPr>
          <a:xfrm>
            <a:off x="5963564" y="7774941"/>
            <a:ext cx="4549534" cy="3635055"/>
          </a:xfrm>
        </p:spPr>
      </p:pic>
      <p:sp>
        <p:nvSpPr>
          <p:cNvPr id="4" name="Text Placeholder 3">
            <a:extLst>
              <a:ext uri="{FF2B5EF4-FFF2-40B4-BE49-F238E27FC236}">
                <a16:creationId xmlns:a16="http://schemas.microsoft.com/office/drawing/2014/main" id="{A38EEF23-B5F7-0FE8-7EED-ABC121A5A979}"/>
              </a:ext>
            </a:extLst>
          </p:cNvPr>
          <p:cNvSpPr>
            <a:spLocks noGrp="1"/>
          </p:cNvSpPr>
          <p:nvPr>
            <p:ph type="body" sz="half" idx="2"/>
          </p:nvPr>
        </p:nvSpPr>
        <p:spPr/>
        <p:txBody>
          <a:bodyPr>
            <a:normAutofit/>
          </a:bodyPr>
          <a:lstStyle/>
          <a:p>
            <a:r>
              <a:rPr lang="en-US" sz="2000" dirty="0">
                <a:latin typeface="Times New Roman" panose="02020603050405020304" pitchFamily="18" charset="0"/>
                <a:cs typeface="Times New Roman" panose="02020603050405020304" pitchFamily="18" charset="0"/>
              </a:rPr>
              <a:t>This code implements a complete Restaurant Review Sentiment Analysis System using Python and Machine Learning. It generates a synthetic dataset of restaurant reviews, trains multiple classification models, compares their performance, and visualizes the results using graphs.</a:t>
            </a:r>
            <a:endParaRPr lang="en-IN"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D080C3F-2126-5DC3-C635-FA843C9468CF}"/>
              </a:ext>
            </a:extLst>
          </p:cNvPr>
          <p:cNvPicPr>
            <a:picLocks noChangeAspect="1"/>
          </p:cNvPicPr>
          <p:nvPr/>
        </p:nvPicPr>
        <p:blipFill>
          <a:blip r:embed="rId3"/>
          <a:stretch>
            <a:fillRect/>
          </a:stretch>
        </p:blipFill>
        <p:spPr>
          <a:xfrm>
            <a:off x="6419586" y="194848"/>
            <a:ext cx="3601107" cy="2934578"/>
          </a:xfrm>
          <a:prstGeom prst="rect">
            <a:avLst/>
          </a:prstGeom>
          <a:ln w="228600" cap="sq" cmpd="thickThin">
            <a:solidFill>
              <a:srgbClr val="000000"/>
            </a:solidFill>
            <a:prstDash val="solid"/>
            <a:miter lim="800000"/>
          </a:ln>
          <a:effectLst>
            <a:innerShdw blurRad="76200">
              <a:srgbClr val="000000"/>
            </a:innerShdw>
          </a:effectLst>
        </p:spPr>
      </p:pic>
      <p:pic>
        <p:nvPicPr>
          <p:cNvPr id="9" name="Picture 8">
            <a:extLst>
              <a:ext uri="{FF2B5EF4-FFF2-40B4-BE49-F238E27FC236}">
                <a16:creationId xmlns:a16="http://schemas.microsoft.com/office/drawing/2014/main" id="{34A292C7-4041-1998-7848-B0F872F37F0A}"/>
              </a:ext>
            </a:extLst>
          </p:cNvPr>
          <p:cNvPicPr>
            <a:picLocks noChangeAspect="1"/>
          </p:cNvPicPr>
          <p:nvPr/>
        </p:nvPicPr>
        <p:blipFill>
          <a:blip r:embed="rId2"/>
          <a:stretch>
            <a:fillRect/>
          </a:stretch>
        </p:blipFill>
        <p:spPr>
          <a:xfrm>
            <a:off x="6419586" y="3551548"/>
            <a:ext cx="3729402" cy="2979774"/>
          </a:xfrm>
          <a:prstGeom prst="rect">
            <a:avLst/>
          </a:prstGeom>
        </p:spPr>
      </p:pic>
    </p:spTree>
    <p:extLst>
      <p:ext uri="{BB962C8B-B14F-4D97-AF65-F5344CB8AC3E}">
        <p14:creationId xmlns:p14="http://schemas.microsoft.com/office/powerpoint/2010/main" val="7900308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33330" y="1403179"/>
            <a:ext cx="1901483" cy="523220"/>
          </a:xfrm>
          <a:prstGeom prst="rect">
            <a:avLst/>
          </a:prstGeom>
          <a:noFill/>
        </p:spPr>
        <p:txBody>
          <a:bodyPr wrap="none">
            <a:spAutoFit/>
          </a:bodyPr>
          <a:lstStyle/>
          <a:p>
            <a:r>
              <a:rPr sz="2800" b="1" dirty="0">
                <a:solidFill>
                  <a:srgbClr val="1F3864"/>
                </a:solidFill>
                <a:latin typeface="Times New Roman" panose="02020603050405020304" pitchFamily="18" charset="0"/>
                <a:cs typeface="Times New Roman" panose="02020603050405020304" pitchFamily="18" charset="0"/>
              </a:rPr>
              <a:t>Conclusion</a:t>
            </a:r>
          </a:p>
        </p:txBody>
      </p:sp>
      <p:sp>
        <p:nvSpPr>
          <p:cNvPr id="3" name="TextBox 2"/>
          <p:cNvSpPr txBox="1"/>
          <p:nvPr/>
        </p:nvSpPr>
        <p:spPr>
          <a:xfrm>
            <a:off x="127116" y="2425497"/>
            <a:ext cx="12090169" cy="4914166"/>
          </a:xfrm>
          <a:prstGeom prst="rect">
            <a:avLst/>
          </a:prstGeom>
          <a:noFill/>
        </p:spPr>
        <p:txBody>
          <a:bodyPr wrap="none">
            <a:spAutoFit/>
          </a:bodyPr>
          <a:lstStyle/>
          <a:p>
            <a:pPr>
              <a:spcAft>
                <a:spcPts val="800"/>
              </a:spcAft>
            </a:pPr>
            <a:r>
              <a:rPr sz="2000" dirty="0">
                <a:latin typeface="Times New Roman" panose="02020603050405020304" pitchFamily="18" charset="0"/>
                <a:cs typeface="Times New Roman" panose="02020603050405020304" pitchFamily="18" charset="0"/>
              </a:rPr>
              <a:t>The project successfully classified restaurant reviews</a:t>
            </a:r>
            <a:r>
              <a:rPr lang="en-US" sz="2000" dirty="0">
                <a:latin typeface="Times New Roman" panose="02020603050405020304" pitchFamily="18" charset="0"/>
                <a:cs typeface="Times New Roman" panose="02020603050405020304" pitchFamily="18" charset="0"/>
              </a:rPr>
              <a:t> and </a:t>
            </a:r>
            <a:r>
              <a:rPr sz="2000" dirty="0">
                <a:latin typeface="Times New Roman" panose="02020603050405020304" pitchFamily="18" charset="0"/>
                <a:cs typeface="Times New Roman" panose="02020603050405020304" pitchFamily="18" charset="0"/>
              </a:rPr>
              <a:t>Machine learning can automate opinion mining</a:t>
            </a:r>
            <a:r>
              <a:rPr lang="en-US" sz="2000" dirty="0">
                <a:latin typeface="Times New Roman" panose="02020603050405020304" pitchFamily="18" charset="0"/>
                <a:cs typeface="Times New Roman" panose="02020603050405020304" pitchFamily="18" charset="0"/>
              </a:rPr>
              <a:t> making it </a:t>
            </a:r>
          </a:p>
          <a:p>
            <a:pPr>
              <a:spcAft>
                <a:spcPts val="800"/>
              </a:spcAft>
            </a:pPr>
            <a:r>
              <a:rPr lang="en-US" sz="2000" dirty="0">
                <a:latin typeface="Times New Roman" panose="02020603050405020304" pitchFamily="18" charset="0"/>
                <a:cs typeface="Times New Roman" panose="02020603050405020304" pitchFamily="18" charset="0"/>
              </a:rPr>
              <a:t>u</a:t>
            </a:r>
            <a:r>
              <a:rPr sz="2000" dirty="0">
                <a:latin typeface="Times New Roman" panose="02020603050405020304" pitchFamily="18" charset="0"/>
                <a:cs typeface="Times New Roman" panose="02020603050405020304" pitchFamily="18" charset="0"/>
              </a:rPr>
              <a:t>seful for both customers and restaurant owners.</a:t>
            </a:r>
            <a:endParaRPr lang="en-US" sz="2000" dirty="0">
              <a:latin typeface="Times New Roman" panose="02020603050405020304" pitchFamily="18" charset="0"/>
              <a:cs typeface="Times New Roman" panose="02020603050405020304" pitchFamily="18" charset="0"/>
            </a:endParaRPr>
          </a:p>
          <a:p>
            <a:pPr>
              <a:spcAft>
                <a:spcPts val="800"/>
              </a:spcAft>
            </a:pPr>
            <a:endParaRPr lang="en-US" sz="2000" dirty="0">
              <a:latin typeface="Times New Roman" panose="02020603050405020304" pitchFamily="18" charset="0"/>
              <a:cs typeface="Times New Roman" panose="02020603050405020304" pitchFamily="18" charset="0"/>
            </a:endParaRPr>
          </a:p>
          <a:p>
            <a:pPr>
              <a:spcAft>
                <a:spcPts val="800"/>
              </a:spcAft>
            </a:pPr>
            <a:r>
              <a:rPr lang="en-US" sz="2000" dirty="0">
                <a:latin typeface="Times New Roman" panose="02020603050405020304" pitchFamily="18" charset="0"/>
                <a:cs typeface="Times New Roman" panose="02020603050405020304" pitchFamily="18" charset="0"/>
              </a:rPr>
              <a:t>Overall, the project proves that sentiment analysis can help restaurants understand customer opinions, </a:t>
            </a:r>
          </a:p>
          <a:p>
            <a:pPr>
              <a:spcAft>
                <a:spcPts val="800"/>
              </a:spcAft>
            </a:pPr>
            <a:r>
              <a:rPr lang="en-US" sz="2000" dirty="0">
                <a:latin typeface="Times New Roman" panose="02020603050405020304" pitchFamily="18" charset="0"/>
                <a:cs typeface="Times New Roman" panose="02020603050405020304" pitchFamily="18" charset="0"/>
              </a:rPr>
              <a:t>improve service quality, and make data-driven decisions. In the future, this system can be enhanced </a:t>
            </a:r>
          </a:p>
          <a:p>
            <a:pPr>
              <a:spcAft>
                <a:spcPts val="800"/>
              </a:spcAft>
            </a:pPr>
            <a:r>
              <a:rPr lang="en-US" sz="2000" dirty="0">
                <a:latin typeface="Times New Roman" panose="02020603050405020304" pitchFamily="18" charset="0"/>
                <a:cs typeface="Times New Roman" panose="02020603050405020304" pitchFamily="18" charset="0"/>
              </a:rPr>
              <a:t>using real-world online reviews, larger datasets, deep learning models, and deployment as a web</a:t>
            </a:r>
          </a:p>
          <a:p>
            <a:pPr>
              <a:spcAft>
                <a:spcPts val="800"/>
              </a:spcAft>
            </a:pPr>
            <a:r>
              <a:rPr lang="en-US" sz="2000" dirty="0">
                <a:latin typeface="Times New Roman" panose="02020603050405020304" pitchFamily="18" charset="0"/>
                <a:cs typeface="Times New Roman" panose="02020603050405020304" pitchFamily="18" charset="0"/>
              </a:rPr>
              <a:t> application for real-time feedback analysis.</a:t>
            </a:r>
          </a:p>
          <a:p>
            <a:pPr algn="just">
              <a:spcAft>
                <a:spcPts val="800"/>
              </a:spcAft>
            </a:pPr>
            <a:endParaRPr lang="en-US" sz="2000" dirty="0">
              <a:latin typeface="Times New Roman" panose="02020603050405020304" pitchFamily="18" charset="0"/>
              <a:cs typeface="Times New Roman" panose="02020603050405020304" pitchFamily="18" charset="0"/>
            </a:endParaRPr>
          </a:p>
          <a:p>
            <a:pPr algn="just">
              <a:spcAft>
                <a:spcPts val="800"/>
              </a:spcAft>
            </a:pPr>
            <a:endParaRPr lang="en-US" sz="2000" dirty="0">
              <a:latin typeface="Times New Roman" panose="02020603050405020304" pitchFamily="18" charset="0"/>
              <a:cs typeface="Times New Roman" panose="02020603050405020304" pitchFamily="18" charset="0"/>
            </a:endParaRPr>
          </a:p>
          <a:p>
            <a:pPr algn="just">
              <a:spcAft>
                <a:spcPts val="800"/>
              </a:spcAft>
            </a:pPr>
            <a:endParaRPr lang="en-US" sz="2000" dirty="0">
              <a:latin typeface="Times New Roman" panose="02020603050405020304" pitchFamily="18" charset="0"/>
              <a:cs typeface="Times New Roman" panose="02020603050405020304" pitchFamily="18" charset="0"/>
            </a:endParaRPr>
          </a:p>
          <a:p>
            <a:pPr algn="just">
              <a:spcAft>
                <a:spcPts val="800"/>
              </a:spcAft>
            </a:pPr>
            <a:endParaRPr lang="en-US" sz="2000" dirty="0">
              <a:latin typeface="Times New Roman" panose="02020603050405020304" pitchFamily="18" charset="0"/>
              <a:cs typeface="Times New Roman" panose="02020603050405020304" pitchFamily="18" charset="0"/>
            </a:endParaRPr>
          </a:p>
          <a:p>
            <a:pPr algn="just">
              <a:spcAft>
                <a:spcPts val="800"/>
              </a:spcAft>
            </a:pPr>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31053" y="2836996"/>
            <a:ext cx="3813865" cy="1015663"/>
          </a:xfrm>
          <a:prstGeom prst="rect">
            <a:avLst/>
          </a:prstGeom>
          <a:noFill/>
        </p:spPr>
        <p:txBody>
          <a:bodyPr wrap="none">
            <a:spAutoFit/>
          </a:bodyPr>
          <a:lstStyle/>
          <a:p>
            <a:r>
              <a:rPr sz="6000" b="1" dirty="0">
                <a:solidFill>
                  <a:srgbClr val="1F3864"/>
                </a:solidFill>
                <a:latin typeface="Times New Roman" panose="02020603050405020304" pitchFamily="18" charset="0"/>
                <a:cs typeface="Times New Roman" panose="02020603050405020304" pitchFamily="18" charset="0"/>
              </a:rPr>
              <a:t>Thank You</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2B5F27"/>
      </a:dk2>
      <a:lt2>
        <a:srgbClr val="D8FC68"/>
      </a:lt2>
      <a:accent1>
        <a:srgbClr val="DDC855"/>
      </a:accent1>
      <a:accent2>
        <a:srgbClr val="FCA03D"/>
      </a:accent2>
      <a:accent3>
        <a:srgbClr val="E36439"/>
      </a:accent3>
      <a:accent4>
        <a:srgbClr val="C2935B"/>
      </a:accent4>
      <a:accent5>
        <a:srgbClr val="88C25C"/>
      </a:accent5>
      <a:accent6>
        <a:srgbClr val="BFCC86"/>
      </a:accent6>
      <a:hlink>
        <a:srgbClr val="FFCE23"/>
      </a:hlink>
      <a:folHlink>
        <a:srgbClr val="FDEB86"/>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88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82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97ECCC31-8429-4523-BE8D-8F09B7A4D46D}"/>
    </a:ext>
  </a:extLst>
</a:theme>
</file>

<file path=docProps/app.xml><?xml version="1.0" encoding="utf-8"?>
<Properties xmlns="http://schemas.openxmlformats.org/officeDocument/2006/extended-properties" xmlns:vt="http://schemas.openxmlformats.org/officeDocument/2006/docPropsVTypes">
  <Template>TM04033919[[fn=Circuit]]</Template>
  <TotalTime>122</TotalTime>
  <Words>507</Words>
  <Application>Microsoft Office PowerPoint</Application>
  <PresentationFormat>Widescreen</PresentationFormat>
  <Paragraphs>64</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Times New Roman</vt:lpstr>
      <vt:lpstr>Tw Cen MT</vt:lpstr>
      <vt:lpstr>Circuit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Code SNIPPETS  </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Asus</dc:creator>
  <cp:keywords/>
  <dc:description>generated using python-pptx</dc:description>
  <cp:lastModifiedBy>Pratz 456</cp:lastModifiedBy>
  <cp:revision>4</cp:revision>
  <dcterms:created xsi:type="dcterms:W3CDTF">2013-01-27T09:14:16Z</dcterms:created>
  <dcterms:modified xsi:type="dcterms:W3CDTF">2026-04-27T04:15:56Z</dcterms:modified>
  <cp:category/>
</cp:coreProperties>
</file>